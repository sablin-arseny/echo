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71" r:id="rId2"/>
    <p:sldId id="280" r:id="rId3"/>
    <p:sldId id="287" r:id="rId4"/>
    <p:sldId id="285" r:id="rId5"/>
    <p:sldId id="288" r:id="rId6"/>
    <p:sldId id="297" r:id="rId7"/>
    <p:sldId id="293" r:id="rId8"/>
    <p:sldId id="304" r:id="rId9"/>
    <p:sldId id="298" r:id="rId10"/>
    <p:sldId id="303" r:id="rId11"/>
    <p:sldId id="300" r:id="rId12"/>
    <p:sldId id="299" r:id="rId13"/>
    <p:sldId id="302" r:id="rId14"/>
    <p:sldId id="301" r:id="rId15"/>
    <p:sldId id="309" r:id="rId16"/>
    <p:sldId id="308" r:id="rId17"/>
    <p:sldId id="306" r:id="rId18"/>
    <p:sldId id="307" r:id="rId19"/>
    <p:sldId id="305" r:id="rId2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3" d="100"/>
          <a:sy n="153" d="100"/>
        </p:scale>
        <p:origin x="57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5EDBAD-62AE-45E6-BDDD-80DA84E45B75}" type="datetimeFigureOut">
              <a:rPr lang="ru-RU" smtClean="0"/>
              <a:t>16.10.2025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2FC0C1-3EFE-4192-A003-B6290F6639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39807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8E5B78-EA61-2EA0-264F-58630E5FC3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8E9D835-8606-2BB3-2FCA-F841968869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E266B71-5E00-E420-8201-CDC849637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7B010-3C63-4487-9A96-E7A1D6DA09D7}" type="datetimeFigureOut">
              <a:rPr lang="ru-RU" smtClean="0"/>
              <a:t>16.10.2025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7E3C188-EC7C-6182-730A-5585B49CC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0013730-D7C9-F52B-2CAB-DD99E78C9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CBE62-98EB-48D3-9E20-5E098D84BC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8577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C8B20D-3010-031C-521B-10368E3C6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AF16B01-B47E-8053-7E8D-A00DFC1F61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92074FF-7D93-9790-5A41-59D7030F8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7B010-3C63-4487-9A96-E7A1D6DA09D7}" type="datetimeFigureOut">
              <a:rPr lang="ru-RU" smtClean="0"/>
              <a:t>16.10.2025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D47DEB0-72A7-BC9B-699E-37DFCE066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B2DC725-A98E-BB8B-7509-9BC347F93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CBE62-98EB-48D3-9E20-5E098D84BC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3108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333697-BC64-A28A-BC8A-3F1592E57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F801571-C810-2B94-ACC5-FC4380C48C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8449E2D-AB9F-65EA-9C3A-98CE4FB18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7B010-3C63-4487-9A96-E7A1D6DA09D7}" type="datetimeFigureOut">
              <a:rPr lang="ru-RU" smtClean="0"/>
              <a:t>16.10.2025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2789029-8054-A50C-6CF0-6044D8F84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C68534D-05FC-A826-41D2-ED2F4CC3A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CBE62-98EB-48D3-9E20-5E098D84BC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7204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3B7BF0-AD9F-F3B9-7ECB-331E5F6E8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90D1590-1B60-310A-521F-5A09E58DB9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7BE7E92-185E-BC8C-4897-02FE2B1BF0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BE96DD6-A176-3142-68DA-D0594A934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7B010-3C63-4487-9A96-E7A1D6DA09D7}" type="datetimeFigureOut">
              <a:rPr lang="ru-RU" smtClean="0"/>
              <a:t>16.10.2025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63DC288-9F60-44CC-0FB7-2C6D619A9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C57260A-1548-C051-4770-6394CEAE5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CBE62-98EB-48D3-9E20-5E098D84BC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1022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ABCD07-C828-7634-E4F4-4F547B872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4002AEA-A551-05D9-06FA-BE97A04063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5A51389-BA3D-4D99-7FCA-1A0EBCDEA3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C66AA19-8231-FB26-AE8D-9F9F2EE27B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28F4A4C-8976-5B04-2F37-77A37656CD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9C1666E-1C6F-FA80-7B86-784C459F0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7B010-3C63-4487-9A96-E7A1D6DA09D7}" type="datetimeFigureOut">
              <a:rPr lang="ru-RU" smtClean="0"/>
              <a:t>16.10.2025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83694FF-D6E9-479F-367A-460D5CF1D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0A4DB59-8619-8719-4BB7-C9364A325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CBE62-98EB-48D3-9E20-5E098D84BC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1135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B5D81D-6D07-F9E0-FD57-F1AD8B05B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3256B0A-5057-C812-19AD-F15876E36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7B010-3C63-4487-9A96-E7A1D6DA09D7}" type="datetimeFigureOut">
              <a:rPr lang="ru-RU" smtClean="0"/>
              <a:t>16.10.2025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232B4D5-178C-D335-33CF-3CED53A59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80120FD-EAD2-7A5D-6076-FF3FD59B1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CBE62-98EB-48D3-9E20-5E098D84BC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3368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800893F-515B-2854-AF1D-FACE6EE56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7B010-3C63-4487-9A96-E7A1D6DA09D7}" type="datetimeFigureOut">
              <a:rPr lang="ru-RU" smtClean="0"/>
              <a:t>16.10.2025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4C8A89E-8760-8889-243B-E773B62C9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9E40D0F-7024-80ED-AFFE-F321CF2C5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CBE62-98EB-48D3-9E20-5E098D84BC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3704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EABB4E-BF13-5727-B3D3-7B0F19FFB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C302184-4DE2-D417-7638-7D8640F857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0087431-2833-026E-8FED-5DB5DEC034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BD8B9B6-B6A6-FBA7-F966-29C6D5264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7B010-3C63-4487-9A96-E7A1D6DA09D7}" type="datetimeFigureOut">
              <a:rPr lang="ru-RU" smtClean="0"/>
              <a:t>16.10.2025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D8B6EF3-5DCD-CE75-3C1C-9F46F946B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D6162C0-00CC-3E4F-2E3E-F793DA07B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CBE62-98EB-48D3-9E20-5E098D84BC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0898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42EFE4-D0E0-D39B-2165-DA41E5F5D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D6BB2BB-784B-CC9B-2712-571F6E43A0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DA649FD-7D1C-9E49-684E-1E485864B8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F9D1F2E-E834-BDCE-72EE-3BB2033DD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7B010-3C63-4487-9A96-E7A1D6DA09D7}" type="datetimeFigureOut">
              <a:rPr lang="ru-RU" smtClean="0"/>
              <a:t>16.10.2025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1E32651-F070-0468-B53D-E465D7782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147D9E9-D6E1-C9B4-ACEB-1C75ECFF9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CBE62-98EB-48D3-9E20-5E098D84BC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3259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1B054B-E516-C8A7-57C5-2BEC3DBE2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4D8E52E-6FB6-BB3C-735F-5EC5331A2C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594A2FD-396A-9474-3765-FC54F0B48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7B010-3C63-4487-9A96-E7A1D6DA09D7}" type="datetimeFigureOut">
              <a:rPr lang="ru-RU" smtClean="0"/>
              <a:t>16.10.2025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B5FFEB3-32BA-B4DD-33F9-561D7DBD6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836F6A9-84DE-16BE-4227-2C0B08EB2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CBE62-98EB-48D3-9E20-5E098D84BC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2806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2508FF6-DBB7-7EFD-A277-F4BF2E7353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C920868-8648-C4BC-D1E8-201C771E92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A9C384C-18BB-498B-4993-20A29D12F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7B010-3C63-4487-9A96-E7A1D6DA09D7}" type="datetimeFigureOut">
              <a:rPr lang="ru-RU" smtClean="0"/>
              <a:t>16.10.2025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4B34ED-CBE5-AB1B-564A-7AE88E748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8BBA113-56AB-7DC7-2033-1F08ADF86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CBE62-98EB-48D3-9E20-5E098D84BC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76048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Обложк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8" descr="A blue circle with white text&#10;&#10;Description automatically generated with low confidence">
            <a:extLst>
              <a:ext uri="{FF2B5EF4-FFF2-40B4-BE49-F238E27FC236}">
                <a16:creationId xmlns:a16="http://schemas.microsoft.com/office/drawing/2014/main" id="{BA292C80-0DA8-194A-9A66-279048FA2A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3859" y="962173"/>
            <a:ext cx="886499" cy="886499"/>
          </a:xfrm>
          <a:prstGeom prst="rect">
            <a:avLst/>
          </a:prstGeom>
        </p:spPr>
      </p:pic>
      <p:cxnSp>
        <p:nvCxnSpPr>
          <p:cNvPr id="11" name="Straight Connector 48">
            <a:extLst>
              <a:ext uri="{FF2B5EF4-FFF2-40B4-BE49-F238E27FC236}">
                <a16:creationId xmlns:a16="http://schemas.microsoft.com/office/drawing/2014/main" id="{313EF906-5BAC-0141-A198-076E155DF9E2}"/>
              </a:ext>
            </a:extLst>
          </p:cNvPr>
          <p:cNvCxnSpPr>
            <a:cxnSpLocks/>
          </p:cNvCxnSpPr>
          <p:nvPr userDrawn="1"/>
        </p:nvCxnSpPr>
        <p:spPr>
          <a:xfrm>
            <a:off x="6090212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50">
            <a:extLst>
              <a:ext uri="{FF2B5EF4-FFF2-40B4-BE49-F238E27FC236}">
                <a16:creationId xmlns:a16="http://schemas.microsoft.com/office/drawing/2014/main" id="{61206A97-26F2-E646-8775-9928FEF465B5}"/>
              </a:ext>
            </a:extLst>
          </p:cNvPr>
          <p:cNvCxnSpPr>
            <a:cxnSpLocks/>
          </p:cNvCxnSpPr>
          <p:nvPr userDrawn="1"/>
        </p:nvCxnSpPr>
        <p:spPr>
          <a:xfrm>
            <a:off x="8642581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51">
            <a:extLst>
              <a:ext uri="{FF2B5EF4-FFF2-40B4-BE49-F238E27FC236}">
                <a16:creationId xmlns:a16="http://schemas.microsoft.com/office/drawing/2014/main" id="{28E0E5F6-C1CA-9B41-B1DB-6E4FB509084D}"/>
              </a:ext>
            </a:extLst>
          </p:cNvPr>
          <p:cNvCxnSpPr>
            <a:cxnSpLocks/>
          </p:cNvCxnSpPr>
          <p:nvPr userDrawn="1"/>
        </p:nvCxnSpPr>
        <p:spPr>
          <a:xfrm>
            <a:off x="11179047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Заголовок 15">
            <a:extLst>
              <a:ext uri="{FF2B5EF4-FFF2-40B4-BE49-F238E27FC236}">
                <a16:creationId xmlns:a16="http://schemas.microsoft.com/office/drawing/2014/main" id="{6007C52F-2E27-E24A-B9DC-AAAB052DB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7967" y="2404670"/>
            <a:ext cx="7634059" cy="1978323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4300" b="0" i="0" baseline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презентации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может быть набрано в две 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или три строки (43 </a:t>
            </a:r>
            <a:r>
              <a:rPr lang="en-GB" sz="4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4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4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18109844-C2E7-354F-9C01-8834E4DCE3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74947" y="1187841"/>
            <a:ext cx="3848717" cy="43516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0" i="0">
                <a:latin typeface="HSE Sans" panose="02000000000000000000" pitchFamily="2" charset="0"/>
              </a:defRPr>
            </a:lvl1pPr>
            <a:lvl2pPr marL="457200" indent="0" algn="l">
              <a:buNone/>
              <a:defRPr sz="1600" b="0" i="0">
                <a:latin typeface="HSE Sans" panose="02000000000000000000" pitchFamily="2" charset="0"/>
              </a:defRPr>
            </a:lvl2pPr>
            <a:lvl3pPr marL="914400" indent="0" algn="l">
              <a:buNone/>
              <a:defRPr sz="1600" b="0" i="0">
                <a:latin typeface="HSE Sans" panose="02000000000000000000" pitchFamily="2" charset="0"/>
              </a:defRPr>
            </a:lvl3pPr>
            <a:lvl4pPr marL="1371600" indent="0" algn="l">
              <a:buNone/>
              <a:defRPr sz="1600" b="0" i="0">
                <a:latin typeface="HSE Sans" panose="02000000000000000000" pitchFamily="2" charset="0"/>
              </a:defRPr>
            </a:lvl4pPr>
            <a:lvl5pPr marL="1828800" indent="0" algn="l">
              <a:buNone/>
              <a:defRPr sz="1600" b="0" i="0">
                <a:latin typeface="HSE Sans" panose="02000000000000000000" pitchFamily="2" charset="0"/>
              </a:defRPr>
            </a:lvl5pPr>
          </a:lstStyle>
          <a:p>
            <a:r>
              <a:rPr lang="ru-RU" dirty="0">
                <a:latin typeface="HSE Sans" panose="02000000000000000000" pitchFamily="2" charset="0"/>
              </a:rPr>
              <a:t>Название факультета</a:t>
            </a:r>
            <a:br>
              <a:rPr lang="ru-RU" dirty="0">
                <a:latin typeface="HSE Sans" panose="02000000000000000000" pitchFamily="2" charset="0"/>
              </a:rPr>
            </a:br>
            <a:r>
              <a:rPr lang="ru-RU" dirty="0">
                <a:latin typeface="HSE Sans" panose="02000000000000000000" pitchFamily="2" charset="0"/>
              </a:rPr>
              <a:t>в две строки</a:t>
            </a:r>
            <a:r>
              <a:rPr lang="en-GB" dirty="0">
                <a:latin typeface="HSE Sans" panose="02000000000000000000" pitchFamily="2" charset="0"/>
              </a:rPr>
              <a:t> (16 </a:t>
            </a:r>
            <a:r>
              <a:rPr lang="en-GB" dirty="0" err="1">
                <a:latin typeface="HSE Sans" panose="02000000000000000000" pitchFamily="2" charset="0"/>
              </a:rPr>
              <a:t>pt</a:t>
            </a:r>
            <a:r>
              <a:rPr lang="en-GB" dirty="0">
                <a:latin typeface="HSE Sans" panose="02000000000000000000" pitchFamily="2" charset="0"/>
              </a:rPr>
              <a:t>)</a:t>
            </a:r>
            <a:endParaRPr lang="ru-RU" dirty="0">
              <a:latin typeface="HSE Sans" panose="02000000000000000000" pitchFamily="2" charset="0"/>
            </a:endParaRPr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40A04329-C800-BB42-BFE0-7E3C68848DA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59420" y="1173829"/>
            <a:ext cx="2278063" cy="463186"/>
          </a:xfr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200" dirty="0">
                <a:latin typeface="HSE Sans" panose="02000000000000000000" pitchFamily="2" charset="0"/>
              </a:rPr>
              <a:t> (12pt)</a:t>
            </a:r>
            <a:endParaRPr lang="ru-RU" sz="1200" dirty="0">
              <a:latin typeface="HSE Sans" panose="02000000000000000000" pitchFamily="2" charset="0"/>
            </a:endParaRPr>
          </a:p>
        </p:txBody>
      </p:sp>
      <p:sp>
        <p:nvSpPr>
          <p:cNvPr id="27" name="Текст 26">
            <a:extLst>
              <a:ext uri="{FF2B5EF4-FFF2-40B4-BE49-F238E27FC236}">
                <a16:creationId xmlns:a16="http://schemas.microsoft.com/office/drawing/2014/main" id="{98337931-3EC2-F348-99EA-860F4FFDC188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8786720" y="1173829"/>
            <a:ext cx="2217738" cy="463186"/>
          </a:xfr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HSE Sans" panose="02000000000000000000" pitchFamily="2" charset="0"/>
              </a:rPr>
              <a:t>Москва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2022</a:t>
            </a:r>
            <a:r>
              <a:rPr lang="en-GB" sz="1200" dirty="0">
                <a:latin typeface="HSE Sans" panose="02000000000000000000" pitchFamily="2" charset="0"/>
              </a:rPr>
              <a:t> (12pt)</a:t>
            </a:r>
            <a:endParaRPr lang="ru-RU" sz="1200" dirty="0">
              <a:latin typeface="HSE Sans" panose="02000000000000000000" pitchFamily="2" charset="0"/>
            </a:endParaRPr>
          </a:p>
        </p:txBody>
      </p:sp>
      <p:sp>
        <p:nvSpPr>
          <p:cNvPr id="29" name="Текст 28">
            <a:extLst>
              <a:ext uri="{FF2B5EF4-FFF2-40B4-BE49-F238E27FC236}">
                <a16:creationId xmlns:a16="http://schemas.microsoft.com/office/drawing/2014/main" id="{EEA7A79B-D410-B44F-BF32-C3EAEFC20A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7967" y="4824914"/>
            <a:ext cx="7625267" cy="652860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600" dirty="0">
                <a:latin typeface="HSE Sans" panose="02000000000000000000" pitchFamily="2" charset="0"/>
              </a:rPr>
              <a:t>Если нужно больше места, то используйте подзаголовок</a:t>
            </a:r>
            <a:r>
              <a:rPr lang="en-GB" sz="1600" dirty="0">
                <a:latin typeface="HSE Sans" panose="02000000000000000000" pitchFamily="2" charset="0"/>
              </a:rPr>
              <a:t> (16 </a:t>
            </a:r>
            <a:r>
              <a:rPr lang="en-GB" sz="1600" dirty="0" err="1">
                <a:latin typeface="HSE Sans" panose="02000000000000000000" pitchFamily="2" charset="0"/>
              </a:rPr>
              <a:t>pt</a:t>
            </a:r>
            <a:r>
              <a:rPr lang="en-GB" sz="1600" dirty="0">
                <a:latin typeface="HSE Sans" panose="02000000000000000000" pitchFamily="2" charset="0"/>
              </a:rPr>
              <a:t>)</a:t>
            </a:r>
            <a:endParaRPr lang="ru-RU" sz="16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7774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екст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 descr="Icon&#10;&#10;Description automatically generated">
            <a:extLst>
              <a:ext uri="{FF2B5EF4-FFF2-40B4-BE49-F238E27FC236}">
                <a16:creationId xmlns:a16="http://schemas.microsoft.com/office/drawing/2014/main" id="{4A1436AC-5F96-2A4F-BFC7-B3442083EB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11" name="Straight Connector 19">
            <a:extLst>
              <a:ext uri="{FF2B5EF4-FFF2-40B4-BE49-F238E27FC236}">
                <a16:creationId xmlns:a16="http://schemas.microsoft.com/office/drawing/2014/main" id="{067DD2ED-246D-7D41-B51F-FED98BF873FD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21">
            <a:extLst>
              <a:ext uri="{FF2B5EF4-FFF2-40B4-BE49-F238E27FC236}">
                <a16:creationId xmlns:a16="http://schemas.microsoft.com/office/drawing/2014/main" id="{68E8C250-D449-A743-8975-B5BFB04D9744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25">
            <a:extLst>
              <a:ext uri="{FF2B5EF4-FFF2-40B4-BE49-F238E27FC236}">
                <a16:creationId xmlns:a16="http://schemas.microsoft.com/office/drawing/2014/main" id="{DD1C71CA-B883-AF42-959D-BCA5690AAA4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4D3A12E-0E10-C441-81D2-C3C1EB6A053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9" name="Straight Connector 59">
            <a:extLst>
              <a:ext uri="{FF2B5EF4-FFF2-40B4-BE49-F238E27FC236}">
                <a16:creationId xmlns:a16="http://schemas.microsoft.com/office/drawing/2014/main" id="{3447008E-4F3B-FC4E-B96D-3927FAE1ED17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Рисунок 23">
            <a:extLst>
              <a:ext uri="{FF2B5EF4-FFF2-40B4-BE49-F238E27FC236}">
                <a16:creationId xmlns:a16="http://schemas.microsoft.com/office/drawing/2014/main" id="{61115A7A-23E5-E442-9551-F72F1CDA57B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684653" y="1447790"/>
            <a:ext cx="4325167" cy="4325107"/>
          </a:xfrm>
          <a:solidFill>
            <a:srgbClr val="D9D9D9"/>
          </a:solidFill>
        </p:spPr>
        <p:txBody>
          <a:bodyPr anchor="ctr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2800" dirty="0">
                <a:solidFill>
                  <a:schemeClr val="tx1"/>
                </a:solidFill>
                <a:latin typeface="HSE Sans" panose="02000000000000000000" pitchFamily="2" charset="0"/>
              </a:rPr>
              <a:t>Чтобы слайд не выглядел пустым, сюда можно поставить иллюстрацию или фотографию</a:t>
            </a:r>
            <a:endParaRPr lang="en-RU" sz="2800">
              <a:solidFill>
                <a:schemeClr val="tx1"/>
              </a:solidFill>
              <a:latin typeface="HSE Sans" panose="02000000000000000000" pitchFamily="2" charset="0"/>
            </a:endParaRPr>
          </a:p>
        </p:txBody>
      </p:sp>
      <p:sp>
        <p:nvSpPr>
          <p:cNvPr id="32" name="Заголовок 31">
            <a:extLst>
              <a:ext uri="{FF2B5EF4-FFF2-40B4-BE49-F238E27FC236}">
                <a16:creationId xmlns:a16="http://schemas.microsoft.com/office/drawing/2014/main" id="{9ED7AA97-D972-DF4F-B662-A65F2A544C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8" y="1447790"/>
            <a:ext cx="524556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36" name="Текст 35">
            <a:extLst>
              <a:ext uri="{FF2B5EF4-FFF2-40B4-BE49-F238E27FC236}">
                <a16:creationId xmlns:a16="http://schemas.microsoft.com/office/drawing/2014/main" id="{69E35E54-2B19-7441-876F-1C6A84F4F1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7" y="2379663"/>
            <a:ext cx="5245561" cy="3393234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 err="1"/>
              <a:t>pt</a:t>
            </a:r>
            <a:r>
              <a:rPr lang="en-US" dirty="0"/>
              <a:t>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38" name="Текст 37">
            <a:extLst>
              <a:ext uri="{FF2B5EF4-FFF2-40B4-BE49-F238E27FC236}">
                <a16:creationId xmlns:a16="http://schemas.microsoft.com/office/drawing/2014/main" id="{7FB4A275-856E-364D-8AA4-2071AADC6A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58FBA0EA-8BE0-A643-B258-4E5C344671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41" name="Текст 39">
            <a:extLst>
              <a:ext uri="{FF2B5EF4-FFF2-40B4-BE49-F238E27FC236}">
                <a16:creationId xmlns:a16="http://schemas.microsoft.com/office/drawing/2014/main" id="{0BEC062F-1BEB-DE4C-B7EE-C552C9D45F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1588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27F274-9AC1-4B84-F405-4EDF4AE5D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23A6D02-077B-49EB-23A1-DA4D401477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F22BBAE-AC0F-F1A3-AD2E-B343BC3EE2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27B010-3C63-4487-9A96-E7A1D6DA09D7}" type="datetimeFigureOut">
              <a:rPr lang="ru-RU" smtClean="0"/>
              <a:t>16.10.2025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4F79C40-5110-6B2A-76E2-4834DFBD50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166B57A-CFF2-7458-308F-D67A47EE00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FCBE62-98EB-48D3-9E20-5E098D84BC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5178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D95C0D-D7DC-EF40-9E45-F5F0A4817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7967" y="2439838"/>
            <a:ext cx="9677355" cy="1978323"/>
          </a:xfrm>
        </p:spPr>
        <p:txBody>
          <a:bodyPr>
            <a:normAutofit/>
          </a:bodyPr>
          <a:lstStyle/>
          <a:p>
            <a:r>
              <a:rPr lang="ru-RU" dirty="0"/>
              <a:t>Веб-приложение: «</a:t>
            </a:r>
            <a:r>
              <a:rPr lang="en-US" dirty="0"/>
              <a:t>Echo</a:t>
            </a:r>
            <a:r>
              <a:rPr lang="ru-RU" dirty="0"/>
              <a:t>» - платформа для коллективного планирования мероприятий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B85EA7E-BEC4-B745-B2A8-D4E4AFC614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Московский институт электроники и математики им. А. Н. Тихонова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B8D49EC-434A-5443-AC3F-85F01995E63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dirty="0"/>
              <a:t>Информатика и вычислительная техника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6FAE0FA-3CAF-BA4B-8F9F-5FEF3C2F3CC6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rPr lang="ru-RU" dirty="0"/>
              <a:t>Москва 2025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4AFB2BF-A7AB-5648-ADCD-2A7F1BD358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Андрейченко А., Половников Д., Саблин А., Сиротин А.</a:t>
            </a:r>
          </a:p>
        </p:txBody>
      </p:sp>
    </p:spTree>
    <p:extLst>
      <p:ext uri="{BB962C8B-B14F-4D97-AF65-F5344CB8AC3E}">
        <p14:creationId xmlns:p14="http://schemas.microsoft.com/office/powerpoint/2010/main" val="982325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60450-15B5-1BE2-BF4C-3D7C20221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A98EEB0B-32CF-5969-B494-5EE71706E1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Информатика и вычислительная техника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87E6A395-F0F7-1054-6AC1-BC60BE6F23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372296" cy="408109"/>
          </a:xfrm>
        </p:spPr>
        <p:txBody>
          <a:bodyPr/>
          <a:lstStyle/>
          <a:p>
            <a:r>
              <a:rPr lang="ru-RU" dirty="0"/>
              <a:t>Проектирование веб-приложений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B101E29E-FB12-469C-97DC-FAF4F2E9A3B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«</a:t>
            </a:r>
            <a:r>
              <a:rPr lang="en-US" dirty="0"/>
              <a:t>Echo</a:t>
            </a:r>
            <a:r>
              <a:rPr lang="ru-RU" dirty="0"/>
              <a:t>» - </a:t>
            </a:r>
            <a:r>
              <a:rPr lang="en-US" dirty="0"/>
              <a:t>technology is best when it brings people together.</a:t>
            </a:r>
            <a:endParaRPr lang="ru-RU" dirty="0"/>
          </a:p>
        </p:txBody>
      </p:sp>
      <p:sp>
        <p:nvSpPr>
          <p:cNvPr id="2" name="Текст 3">
            <a:extLst>
              <a:ext uri="{FF2B5EF4-FFF2-40B4-BE49-F238E27FC236}">
                <a16:creationId xmlns:a16="http://schemas.microsoft.com/office/drawing/2014/main" id="{5B9C5D33-4181-8EE1-B3A8-54E4EDBB0C0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4687" y="1318813"/>
            <a:ext cx="10729841" cy="4220373"/>
          </a:xfrm>
        </p:spPr>
        <p:txBody>
          <a:bodyPr>
            <a:normAutofit/>
          </a:bodyPr>
          <a:lstStyle/>
          <a:p>
            <a:r>
              <a:rPr lang="ru-RU" sz="3200" b="1" dirty="0">
                <a:solidFill>
                  <a:schemeClr val="tx1"/>
                </a:solidFill>
              </a:rPr>
              <a:t>Проблема: </a:t>
            </a:r>
            <a:r>
              <a:rPr lang="ru-RU" sz="3200" dirty="0"/>
              <a:t>совместные праздники в коллективе нередко сопровождаются сложностями: сотрудники создают множество разрозненных чатов (порой до тридцати и более), расходы распределяются неравномерно, а различия в вовлечённости — когда одни ограничиваются пассивным участием, а другие берут на себя основную организационную нагрузку — мешают нормальному проведению мероприятий.</a:t>
            </a:r>
          </a:p>
        </p:txBody>
      </p:sp>
    </p:spTree>
    <p:extLst>
      <p:ext uri="{BB962C8B-B14F-4D97-AF65-F5344CB8AC3E}">
        <p14:creationId xmlns:p14="http://schemas.microsoft.com/office/powerpoint/2010/main" val="3869218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D4330-19D3-B1B9-4B80-ED3C01123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DB6A9171-0A9D-9D68-9FDF-F7187BEEE0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Информатика и вычислительная техника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F2B9721E-DDBC-5175-301E-E93BE55D034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372296" cy="408109"/>
          </a:xfrm>
        </p:spPr>
        <p:txBody>
          <a:bodyPr/>
          <a:lstStyle/>
          <a:p>
            <a:r>
              <a:rPr lang="ru-RU" dirty="0"/>
              <a:t>Проектирование веб-приложений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A5887888-A32B-D00A-741D-2B5767F224A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«</a:t>
            </a:r>
            <a:r>
              <a:rPr lang="en-US" dirty="0"/>
              <a:t>Echo</a:t>
            </a:r>
            <a:r>
              <a:rPr lang="ru-RU" dirty="0"/>
              <a:t>» - </a:t>
            </a:r>
            <a:r>
              <a:rPr lang="en-US" dirty="0"/>
              <a:t>technology is best when it brings people together.</a:t>
            </a:r>
            <a:endParaRPr lang="ru-RU" dirty="0"/>
          </a:p>
        </p:txBody>
      </p:sp>
      <p:sp>
        <p:nvSpPr>
          <p:cNvPr id="2" name="Текст 3">
            <a:extLst>
              <a:ext uri="{FF2B5EF4-FFF2-40B4-BE49-F238E27FC236}">
                <a16:creationId xmlns:a16="http://schemas.microsoft.com/office/drawing/2014/main" id="{72008B52-0D69-6456-EF74-BBC8CA21EA8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4687" y="1318813"/>
            <a:ext cx="10729841" cy="4220373"/>
          </a:xfrm>
        </p:spPr>
        <p:txBody>
          <a:bodyPr>
            <a:normAutofit/>
          </a:bodyPr>
          <a:lstStyle/>
          <a:p>
            <a:r>
              <a:rPr lang="ru-RU" sz="3200" b="1" dirty="0">
                <a:solidFill>
                  <a:schemeClr val="tx1"/>
                </a:solidFill>
                <a:ea typeface="+mj-ea"/>
                <a:cs typeface="+mj-cs"/>
              </a:rPr>
              <a:t>Идея:</a:t>
            </a:r>
            <a:r>
              <a:rPr lang="ru-RU" sz="3200" dirty="0">
                <a:solidFill>
                  <a:schemeClr val="tx1"/>
                </a:solidFill>
                <a:ea typeface="+mj-ea"/>
                <a:cs typeface="+mj-cs"/>
              </a:rPr>
              <a:t> </a:t>
            </a:r>
            <a:r>
              <a:rPr lang="ru-RU" sz="2800" dirty="0"/>
              <a:t>создать единую точку входа для планирования мероприятий: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Спланировать мероприятие</a:t>
            </a:r>
            <a:r>
              <a:rPr lang="en-US" sz="2800" dirty="0"/>
              <a:t>;</a:t>
            </a:r>
            <a:endParaRPr lang="ru-RU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Произвести необходимые расчеты</a:t>
            </a:r>
            <a:r>
              <a:rPr lang="en-US" sz="2800" dirty="0"/>
              <a:t>;</a:t>
            </a:r>
            <a:endParaRPr lang="ru-RU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Найти воспоминания.</a:t>
            </a:r>
            <a:endParaRPr lang="en-US" sz="2800" dirty="0"/>
          </a:p>
          <a:p>
            <a:endParaRPr lang="en-US" sz="2800" dirty="0">
              <a:solidFill>
                <a:schemeClr val="tx1"/>
              </a:solidFill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034275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6AC33-BED9-1BDD-27E9-A1DE1E27A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BD37967E-499A-6F4F-18FB-8444179BA1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Информатика и вычислительная техника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6EA26775-C769-657D-CF90-C44FEBA9D0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372296" cy="408109"/>
          </a:xfrm>
        </p:spPr>
        <p:txBody>
          <a:bodyPr/>
          <a:lstStyle/>
          <a:p>
            <a:r>
              <a:rPr lang="ru-RU" dirty="0"/>
              <a:t>Проектирование веб-приложений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764BB350-14A4-8D69-3459-D7B9E2C7811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«</a:t>
            </a:r>
            <a:r>
              <a:rPr lang="en-US" dirty="0"/>
              <a:t>Echo</a:t>
            </a:r>
            <a:r>
              <a:rPr lang="ru-RU" dirty="0"/>
              <a:t>» - </a:t>
            </a:r>
            <a:r>
              <a:rPr lang="en-US" dirty="0"/>
              <a:t>technology is best when it brings people together.</a:t>
            </a:r>
            <a:endParaRPr lang="ru-RU" dirty="0"/>
          </a:p>
        </p:txBody>
      </p:sp>
      <p:sp>
        <p:nvSpPr>
          <p:cNvPr id="2" name="Текст 3">
            <a:extLst>
              <a:ext uri="{FF2B5EF4-FFF2-40B4-BE49-F238E27FC236}">
                <a16:creationId xmlns:a16="http://schemas.microsoft.com/office/drawing/2014/main" id="{A71F7747-785D-6B41-C086-D2263429F8B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4687" y="1318814"/>
            <a:ext cx="10729841" cy="4555894"/>
          </a:xfrm>
        </p:spPr>
        <p:txBody>
          <a:bodyPr>
            <a:normAutofit fontScale="92500" lnSpcReduction="10000"/>
          </a:bodyPr>
          <a:lstStyle/>
          <a:p>
            <a:r>
              <a:rPr lang="en-US" sz="2800" b="1" dirty="0">
                <a:solidFill>
                  <a:schemeClr val="tx1"/>
                </a:solidFill>
                <a:ea typeface="+mj-ea"/>
                <a:cs typeface="+mj-cs"/>
              </a:rPr>
              <a:t>Vission</a:t>
            </a:r>
            <a:r>
              <a:rPr lang="ru-RU" sz="2800" b="1" dirty="0">
                <a:solidFill>
                  <a:schemeClr val="tx1"/>
                </a:solidFill>
                <a:ea typeface="+mj-ea"/>
                <a:cs typeface="+mj-cs"/>
              </a:rPr>
              <a:t>: </a:t>
            </a:r>
            <a:r>
              <a:rPr lang="ru-RU" sz="2800" dirty="0"/>
              <a:t>Единая удобная цифровая платформа, которая обеспечит прозрачную организацию совместных мероприятий, справедливое распределение расходов и эффективную коммуникацию между участниками, минимизируя хаос множества чатов и способствуя формированию гармоничного коллективного взаимодействия.</a:t>
            </a:r>
          </a:p>
          <a:p>
            <a:r>
              <a:rPr lang="ru-RU" sz="2800" b="1" dirty="0">
                <a:solidFill>
                  <a:schemeClr val="tx1"/>
                </a:solidFill>
                <a:ea typeface="+mj-ea"/>
                <a:cs typeface="+mj-cs"/>
              </a:rPr>
              <a:t>К чему мы стремимся</a:t>
            </a:r>
            <a:r>
              <a:rPr lang="en-US" sz="2800" b="1" dirty="0">
                <a:solidFill>
                  <a:schemeClr val="tx1"/>
                </a:solidFill>
                <a:ea typeface="+mj-ea"/>
                <a:cs typeface="+mj-cs"/>
              </a:rPr>
              <a:t>? </a:t>
            </a:r>
            <a:r>
              <a:rPr lang="ru-RU" sz="2800" dirty="0"/>
              <a:t>К созданию единой цифровой платформы, упрощающей организацию совместных мероприятий.</a:t>
            </a:r>
            <a:endParaRPr lang="en-US" sz="2800" dirty="0"/>
          </a:p>
          <a:p>
            <a:r>
              <a:rPr lang="ru-RU" sz="2800" b="1" dirty="0">
                <a:solidFill>
                  <a:schemeClr val="tx1"/>
                </a:solidFill>
                <a:ea typeface="+mj-ea"/>
                <a:cs typeface="+mj-cs"/>
              </a:rPr>
              <a:t>Идеал</a:t>
            </a:r>
            <a:r>
              <a:rPr lang="en-US" sz="2800" b="1" dirty="0">
                <a:solidFill>
                  <a:schemeClr val="tx1"/>
                </a:solidFill>
                <a:ea typeface="+mj-ea"/>
                <a:cs typeface="+mj-cs"/>
              </a:rPr>
              <a:t>? </a:t>
            </a:r>
            <a:r>
              <a:rPr lang="ru-RU" sz="2800" dirty="0"/>
              <a:t>Все расходы распределяются справедливо, коммуникация становится прозрачной и эффективной.</a:t>
            </a:r>
            <a:endParaRPr lang="en-US" sz="2800" dirty="0"/>
          </a:p>
          <a:p>
            <a:r>
              <a:rPr lang="ru-RU" sz="2800" b="1" dirty="0">
                <a:solidFill>
                  <a:schemeClr val="tx1"/>
                </a:solidFill>
                <a:ea typeface="+mj-ea"/>
                <a:cs typeface="+mj-cs"/>
              </a:rPr>
              <a:t>Изменение мира</a:t>
            </a:r>
            <a:r>
              <a:rPr lang="en-US" sz="2800" b="1" dirty="0">
                <a:solidFill>
                  <a:schemeClr val="tx1"/>
                </a:solidFill>
                <a:ea typeface="+mj-ea"/>
                <a:cs typeface="+mj-cs"/>
              </a:rPr>
              <a:t>? </a:t>
            </a:r>
            <a:r>
              <a:rPr lang="ru-RU" sz="2800" dirty="0"/>
              <a:t>Коллективные мероприятия перестают быть хаотичными и превращаются в гармоничный процесс взаимодействия.</a:t>
            </a:r>
            <a:endParaRPr lang="ru-RU" sz="2800" b="1" dirty="0">
              <a:solidFill>
                <a:schemeClr val="tx1"/>
              </a:solidFill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3334281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26D5B-8EEA-AA42-C888-DA25A41A6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FA32FE06-B59F-AD4E-E751-F07A11F9B1B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Информатика и вычислительная техника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DC3E48DB-3D5D-1AB9-7591-6D28B3FA68D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372296" cy="408109"/>
          </a:xfrm>
        </p:spPr>
        <p:txBody>
          <a:bodyPr/>
          <a:lstStyle/>
          <a:p>
            <a:r>
              <a:rPr lang="ru-RU" dirty="0"/>
              <a:t>Проектирование веб-приложений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BDE26C66-CE29-CE67-7F76-7B0D80E50D1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«</a:t>
            </a:r>
            <a:r>
              <a:rPr lang="en-US" dirty="0"/>
              <a:t>Echo</a:t>
            </a:r>
            <a:r>
              <a:rPr lang="ru-RU" dirty="0"/>
              <a:t>» - </a:t>
            </a:r>
            <a:r>
              <a:rPr lang="en-US" dirty="0"/>
              <a:t>technology is best when it brings people together.</a:t>
            </a:r>
            <a:endParaRPr lang="ru-RU" dirty="0"/>
          </a:p>
        </p:txBody>
      </p:sp>
      <p:sp>
        <p:nvSpPr>
          <p:cNvPr id="2" name="Текст 3">
            <a:extLst>
              <a:ext uri="{FF2B5EF4-FFF2-40B4-BE49-F238E27FC236}">
                <a16:creationId xmlns:a16="http://schemas.microsoft.com/office/drawing/2014/main" id="{54927E4B-0CCA-85BD-37D4-71AAD5B400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4687" y="1318814"/>
            <a:ext cx="10729841" cy="4555894"/>
          </a:xfrm>
        </p:spPr>
        <p:txBody>
          <a:bodyPr>
            <a:normAutofit fontScale="92500"/>
          </a:bodyPr>
          <a:lstStyle/>
          <a:p>
            <a:r>
              <a:rPr lang="en-US" sz="2800" b="1" dirty="0">
                <a:solidFill>
                  <a:schemeClr val="tx1"/>
                </a:solidFill>
              </a:rPr>
              <a:t>Mission</a:t>
            </a:r>
            <a:r>
              <a:rPr lang="ru-RU" sz="2800" b="1" dirty="0">
                <a:solidFill>
                  <a:schemeClr val="tx1"/>
                </a:solidFill>
              </a:rPr>
              <a:t>:</a:t>
            </a:r>
          </a:p>
          <a:p>
            <a:r>
              <a:rPr lang="ru-RU" sz="2800" b="1" dirty="0">
                <a:solidFill>
                  <a:schemeClr val="tx1"/>
                </a:solidFill>
                <a:ea typeface="+mj-ea"/>
                <a:cs typeface="+mj-cs"/>
              </a:rPr>
              <a:t>Кто мы</a:t>
            </a:r>
            <a:r>
              <a:rPr lang="en-US" sz="2800" b="1" dirty="0">
                <a:solidFill>
                  <a:schemeClr val="tx1"/>
                </a:solidFill>
                <a:ea typeface="+mj-ea"/>
                <a:cs typeface="+mj-cs"/>
              </a:rPr>
              <a:t>?</a:t>
            </a:r>
            <a:r>
              <a:rPr lang="ru-RU" sz="2800" b="1" dirty="0">
                <a:solidFill>
                  <a:schemeClr val="tx1"/>
                </a:solidFill>
                <a:ea typeface="+mj-ea"/>
                <a:cs typeface="+mj-cs"/>
              </a:rPr>
              <a:t> </a:t>
            </a:r>
            <a:r>
              <a:rPr lang="ru-RU" sz="2800" dirty="0"/>
              <a:t>Веб-приложение для организации коллективных мероприятий.</a:t>
            </a:r>
          </a:p>
          <a:p>
            <a:r>
              <a:rPr lang="ru-RU" sz="2800" b="1" dirty="0">
                <a:solidFill>
                  <a:schemeClr val="tx1"/>
                </a:solidFill>
                <a:ea typeface="+mj-ea"/>
                <a:cs typeface="+mj-cs"/>
              </a:rPr>
              <a:t>Что мы делаем</a:t>
            </a:r>
            <a:r>
              <a:rPr lang="en-US" sz="2800" b="1" dirty="0">
                <a:solidFill>
                  <a:schemeClr val="tx1"/>
                </a:solidFill>
                <a:ea typeface="+mj-ea"/>
                <a:cs typeface="+mj-cs"/>
              </a:rPr>
              <a:t>? </a:t>
            </a:r>
            <a:r>
              <a:rPr lang="ru-RU" sz="2800" dirty="0"/>
              <a:t>Объединяем процессы планирования в одном пространстве, автоматизируем учёт и распределение расходов.</a:t>
            </a:r>
          </a:p>
          <a:p>
            <a:r>
              <a:rPr lang="ru-RU" sz="2800" b="1" dirty="0">
                <a:solidFill>
                  <a:schemeClr val="tx1"/>
                </a:solidFill>
                <a:ea typeface="+mj-ea"/>
                <a:cs typeface="+mj-cs"/>
              </a:rPr>
              <a:t>Для кого</a:t>
            </a:r>
            <a:r>
              <a:rPr lang="en-US" sz="2800" b="1" dirty="0">
                <a:solidFill>
                  <a:schemeClr val="tx1"/>
                </a:solidFill>
                <a:ea typeface="+mj-ea"/>
                <a:cs typeface="+mj-cs"/>
              </a:rPr>
              <a:t>? </a:t>
            </a:r>
            <a:r>
              <a:rPr lang="ru-RU" sz="2800" dirty="0"/>
              <a:t>Для любых сообществ, организующих совместные мероприятия.</a:t>
            </a:r>
          </a:p>
          <a:p>
            <a:r>
              <a:rPr lang="ru-RU" sz="2800" b="1" dirty="0">
                <a:solidFill>
                  <a:schemeClr val="tx1"/>
                </a:solidFill>
                <a:ea typeface="+mj-ea"/>
                <a:cs typeface="+mj-cs"/>
              </a:rPr>
              <a:t>Ценность</a:t>
            </a:r>
            <a:r>
              <a:rPr lang="en-US" sz="2800" b="1" dirty="0">
                <a:solidFill>
                  <a:schemeClr val="tx1"/>
                </a:solidFill>
                <a:ea typeface="+mj-ea"/>
                <a:cs typeface="+mj-cs"/>
              </a:rPr>
              <a:t>? </a:t>
            </a:r>
            <a:r>
              <a:rPr lang="ru-RU" sz="2800" dirty="0"/>
              <a:t>Обеспечиваем гибкие (настраиваемые) условия участия, повышаем вовлечённость и снижаем количество пассивных участников благодаря прозрачным правилам и инструментам обратной связи.</a:t>
            </a:r>
            <a:endParaRPr lang="ru-RU" sz="2800" b="1" dirty="0">
              <a:solidFill>
                <a:schemeClr val="tx1"/>
              </a:solidFill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1000707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F6A21-2CAC-10F7-FBBD-941C5845C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BC211C0F-198E-A118-0C0A-56BE9B064E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Информатика и вычислительная техника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C2369F30-F50D-C191-B768-BE4E6F3F0A9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372296" cy="408109"/>
          </a:xfrm>
        </p:spPr>
        <p:txBody>
          <a:bodyPr/>
          <a:lstStyle/>
          <a:p>
            <a:r>
              <a:rPr lang="ru-RU" dirty="0"/>
              <a:t>Проектирование веб-приложений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C9528AEC-A43F-744C-D5E7-2656913A25A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«</a:t>
            </a:r>
            <a:r>
              <a:rPr lang="en-US" dirty="0"/>
              <a:t>Echo</a:t>
            </a:r>
            <a:r>
              <a:rPr lang="ru-RU" dirty="0"/>
              <a:t>» - </a:t>
            </a:r>
            <a:r>
              <a:rPr lang="en-US" dirty="0"/>
              <a:t>technology is best when it brings people together.</a:t>
            </a:r>
            <a:endParaRPr lang="ru-RU" dirty="0"/>
          </a:p>
        </p:txBody>
      </p:sp>
      <p:sp>
        <p:nvSpPr>
          <p:cNvPr id="2" name="Текст 3">
            <a:extLst>
              <a:ext uri="{FF2B5EF4-FFF2-40B4-BE49-F238E27FC236}">
                <a16:creationId xmlns:a16="http://schemas.microsoft.com/office/drawing/2014/main" id="{DEAC9758-3F36-A437-F236-12DFFA9BCBF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4686" y="1318814"/>
            <a:ext cx="10330535" cy="5094512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tx1"/>
                </a:solidFill>
              </a:rPr>
              <a:t>User stories, user story map:</a:t>
            </a:r>
            <a:endParaRPr lang="ru-RU" sz="3600" b="1" dirty="0">
              <a:solidFill>
                <a:schemeClr val="tx1"/>
              </a:solidFill>
            </a:endParaRPr>
          </a:p>
          <a:p>
            <a:endParaRPr lang="ru-RU" sz="2000" b="1" dirty="0">
              <a:solidFill>
                <a:schemeClr val="tx1"/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3C78A1D-C7B0-EE18-FF7D-595131B9C2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9992" y="2646870"/>
            <a:ext cx="2438400" cy="2438400"/>
          </a:xfrm>
          <a:prstGeom prst="rect">
            <a:avLst/>
          </a:prstGeom>
        </p:spPr>
      </p:pic>
      <p:sp>
        <p:nvSpPr>
          <p:cNvPr id="7" name="Текст 3">
            <a:extLst>
              <a:ext uri="{FF2B5EF4-FFF2-40B4-BE49-F238E27FC236}">
                <a16:creationId xmlns:a16="http://schemas.microsoft.com/office/drawing/2014/main" id="{F137003C-623C-7167-86E0-7CD3D7ED6907}"/>
              </a:ext>
            </a:extLst>
          </p:cNvPr>
          <p:cNvSpPr txBox="1">
            <a:spLocks/>
          </p:cNvSpPr>
          <p:nvPr/>
        </p:nvSpPr>
        <p:spPr>
          <a:xfrm>
            <a:off x="604686" y="1771046"/>
            <a:ext cx="10729841" cy="4555894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800" b="1" dirty="0">
              <a:solidFill>
                <a:schemeClr val="tx1"/>
              </a:solidFill>
              <a:ea typeface="+mj-ea"/>
              <a:cs typeface="+mj-cs"/>
            </a:endParaRPr>
          </a:p>
          <a:p>
            <a:endParaRPr lang="en-US" sz="2800" b="1" dirty="0">
              <a:solidFill>
                <a:schemeClr val="tx1"/>
              </a:solidFill>
              <a:ea typeface="+mj-ea"/>
              <a:cs typeface="+mj-cs"/>
            </a:endParaRPr>
          </a:p>
          <a:p>
            <a:endParaRPr lang="en-US" sz="2800" b="1" dirty="0">
              <a:solidFill>
                <a:schemeClr val="tx1"/>
              </a:solidFill>
              <a:ea typeface="+mj-ea"/>
              <a:cs typeface="+mj-cs"/>
            </a:endParaRPr>
          </a:p>
          <a:p>
            <a:r>
              <a:rPr lang="ru-RU" sz="2800" b="1" dirty="0">
                <a:solidFill>
                  <a:schemeClr val="tx1"/>
                </a:solidFill>
                <a:ea typeface="+mj-ea"/>
                <a:cs typeface="+mj-cs"/>
              </a:rPr>
              <a:t>Ссылка на </a:t>
            </a:r>
            <a:r>
              <a:rPr lang="en-US" sz="2800" b="1" dirty="0">
                <a:solidFill>
                  <a:schemeClr val="tx1"/>
                </a:solidFill>
                <a:ea typeface="+mj-ea"/>
                <a:cs typeface="+mj-cs"/>
              </a:rPr>
              <a:t>Miro</a:t>
            </a:r>
            <a:r>
              <a:rPr lang="ru-RU" sz="2800" b="1" dirty="0">
                <a:solidFill>
                  <a:schemeClr val="tx1"/>
                </a:solidFill>
                <a:ea typeface="+mj-ea"/>
                <a:cs typeface="+mj-cs"/>
              </a:rPr>
              <a:t>-доску с </a:t>
            </a:r>
            <a:r>
              <a:rPr lang="en-US" sz="2800" b="1" dirty="0">
                <a:solidFill>
                  <a:schemeClr val="tx1"/>
                </a:solidFill>
                <a:ea typeface="+mj-ea"/>
                <a:cs typeface="+mj-cs"/>
              </a:rPr>
              <a:t>Echo story map:</a:t>
            </a:r>
          </a:p>
          <a:p>
            <a:r>
              <a:rPr lang="en-US" sz="2600" u="sng" dirty="0"/>
              <a:t>https://miro.com/app/board/uXjVJ62i7nc=/</a:t>
            </a:r>
          </a:p>
        </p:txBody>
      </p:sp>
    </p:spTree>
    <p:extLst>
      <p:ext uri="{BB962C8B-B14F-4D97-AF65-F5344CB8AC3E}">
        <p14:creationId xmlns:p14="http://schemas.microsoft.com/office/powerpoint/2010/main" val="5275651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13305-584F-D0DD-FFA8-3D06B8E67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049CF292-C645-F880-009B-EBA05E754A6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Информатика и вычислительная техника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676580A2-84A4-39CD-6700-6A2F06BE541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372296" cy="408109"/>
          </a:xfrm>
        </p:spPr>
        <p:txBody>
          <a:bodyPr/>
          <a:lstStyle/>
          <a:p>
            <a:r>
              <a:rPr lang="ru-RU" dirty="0"/>
              <a:t>Проектирование веб-приложений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BA245AFA-63AA-25AE-1DF2-85F5303847F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«</a:t>
            </a:r>
            <a:r>
              <a:rPr lang="en-US" dirty="0"/>
              <a:t>Echo</a:t>
            </a:r>
            <a:r>
              <a:rPr lang="ru-RU" dirty="0"/>
              <a:t>» - </a:t>
            </a:r>
            <a:r>
              <a:rPr lang="en-US" dirty="0"/>
              <a:t>technology is best when it brings people together.</a:t>
            </a:r>
            <a:endParaRPr lang="ru-R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B047EB8-EE15-87B3-982D-1786EB40ECB2}"/>
              </a:ext>
            </a:extLst>
          </p:cNvPr>
          <p:cNvSpPr txBox="1"/>
          <p:nvPr/>
        </p:nvSpPr>
        <p:spPr>
          <a:xfrm>
            <a:off x="515917" y="1329195"/>
            <a:ext cx="80409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latin typeface="HSE Sans" panose="02000000000000000000" pitchFamily="2" charset="0"/>
                <a:ea typeface="+mj-ea"/>
                <a:cs typeface="+mj-cs"/>
              </a:rPr>
              <a:t>Архитектурный риск – максимальный приоритет</a:t>
            </a:r>
          </a:p>
        </p:txBody>
      </p:sp>
      <p:sp>
        <p:nvSpPr>
          <p:cNvPr id="2" name="Текст 3">
            <a:extLst>
              <a:ext uri="{FF2B5EF4-FFF2-40B4-BE49-F238E27FC236}">
                <a16:creationId xmlns:a16="http://schemas.microsoft.com/office/drawing/2014/main" id="{9588E96B-1967-A7AC-6402-4F87C7B19AB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4687" y="2035478"/>
            <a:ext cx="10729841" cy="3839229"/>
          </a:xfrm>
        </p:spPr>
        <p:txBody>
          <a:bodyPr>
            <a:normAutofit lnSpcReduction="10000"/>
          </a:bodyPr>
          <a:lstStyle/>
          <a:p>
            <a:r>
              <a:rPr lang="ru-RU" sz="2600" dirty="0"/>
              <a:t>«Точка отказа» в виде Telegram Bot API. </a:t>
            </a:r>
            <a:r>
              <a:rPr lang="ru-RU" sz="2600" b="1" dirty="0"/>
              <a:t>Решение: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600" dirty="0"/>
              <a:t>Асинхронная обработка.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600" dirty="0"/>
              <a:t>Показывать уведомление в UI о том что телега лежит.</a:t>
            </a:r>
          </a:p>
          <a:p>
            <a:r>
              <a:rPr lang="ru-RU" sz="2600" b="1" dirty="0"/>
              <a:t>Альтернативный путь: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600" dirty="0"/>
              <a:t>Разработать простой встроенный чат на WebSockets для общения во время мероприятия.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600" dirty="0"/>
              <a:t>Интегрировать с облачными хранилищами (Google Photos, Yandex.Disk) по ссылкам.</a:t>
            </a:r>
          </a:p>
          <a:p>
            <a:endParaRPr lang="ru-RU" sz="2600" dirty="0"/>
          </a:p>
          <a:p>
            <a:endParaRPr lang="ru-RU" sz="2600" dirty="0"/>
          </a:p>
          <a:p>
            <a:endParaRPr lang="ru-RU" sz="2600" dirty="0"/>
          </a:p>
        </p:txBody>
      </p:sp>
    </p:spTree>
    <p:extLst>
      <p:ext uri="{BB962C8B-B14F-4D97-AF65-F5344CB8AC3E}">
        <p14:creationId xmlns:p14="http://schemas.microsoft.com/office/powerpoint/2010/main" val="25880632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A59F1-6FEF-D677-94C7-90997E758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546A7401-25EA-D95E-5FA4-C9D4C4FC8FD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Информатика и вычислительная техника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99795906-0683-D9A1-6269-038D04FA6E2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372296" cy="408109"/>
          </a:xfrm>
        </p:spPr>
        <p:txBody>
          <a:bodyPr/>
          <a:lstStyle/>
          <a:p>
            <a:r>
              <a:rPr lang="ru-RU" dirty="0"/>
              <a:t>Проектирование веб-приложений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1E05AEE7-1D45-5149-B58E-3A63F7CC35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«</a:t>
            </a:r>
            <a:r>
              <a:rPr lang="en-US" dirty="0"/>
              <a:t>Echo</a:t>
            </a:r>
            <a:r>
              <a:rPr lang="ru-RU" dirty="0"/>
              <a:t>» - </a:t>
            </a:r>
            <a:r>
              <a:rPr lang="en-US" dirty="0"/>
              <a:t>technology is best when it brings people together.</a:t>
            </a:r>
            <a:endParaRPr lang="ru-R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989AF2-2D3D-CD34-5C5A-8D72DDDF5226}"/>
              </a:ext>
            </a:extLst>
          </p:cNvPr>
          <p:cNvSpPr txBox="1"/>
          <p:nvPr/>
        </p:nvSpPr>
        <p:spPr>
          <a:xfrm>
            <a:off x="136742" y="1042695"/>
            <a:ext cx="119185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b="1" dirty="0">
                <a:latin typeface="HSE Sans" panose="02000000000000000000" pitchFamily="2" charset="0"/>
                <a:ea typeface="+mj-ea"/>
                <a:cs typeface="+mj-cs"/>
              </a:rPr>
              <a:t>Риски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1D45D0A-DAA9-7BC2-C3BD-E40D540786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335" y="1467115"/>
            <a:ext cx="10735329" cy="5245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6940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DB6C6-ECAA-805E-6E45-7D0CB23F5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BB02D686-A7CF-7DD9-A43B-8809605733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Информатика и вычислительная техника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8D169CC-5D55-552A-69D9-8B5578D5D95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372296" cy="408109"/>
          </a:xfrm>
        </p:spPr>
        <p:txBody>
          <a:bodyPr/>
          <a:lstStyle/>
          <a:p>
            <a:r>
              <a:rPr lang="ru-RU" dirty="0"/>
              <a:t>Проектирование веб-приложений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A3372FD4-7A0E-B30B-6B56-1F07ED14398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«</a:t>
            </a:r>
            <a:r>
              <a:rPr lang="en-US" dirty="0"/>
              <a:t>Echo</a:t>
            </a:r>
            <a:r>
              <a:rPr lang="ru-RU" dirty="0"/>
              <a:t>» - </a:t>
            </a:r>
            <a:r>
              <a:rPr lang="en-US" dirty="0"/>
              <a:t>technology is best when it brings people together.</a:t>
            </a:r>
            <a:endParaRPr lang="ru-R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FBFDEA0-F94D-2F4C-C26A-333ADD1DC81A}"/>
              </a:ext>
            </a:extLst>
          </p:cNvPr>
          <p:cNvSpPr txBox="1"/>
          <p:nvPr/>
        </p:nvSpPr>
        <p:spPr>
          <a:xfrm>
            <a:off x="515917" y="1329195"/>
            <a:ext cx="33602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latin typeface="HSE Sans" panose="02000000000000000000" pitchFamily="2" charset="0"/>
                <a:ea typeface="+mj-ea"/>
                <a:cs typeface="+mj-cs"/>
              </a:rPr>
              <a:t>Выбор архитектуры</a:t>
            </a:r>
          </a:p>
        </p:txBody>
      </p:sp>
      <p:sp>
        <p:nvSpPr>
          <p:cNvPr id="2" name="Текст 3">
            <a:extLst>
              <a:ext uri="{FF2B5EF4-FFF2-40B4-BE49-F238E27FC236}">
                <a16:creationId xmlns:a16="http://schemas.microsoft.com/office/drawing/2014/main" id="{F9AB7832-6671-4FEE-1B64-1BADB3EE4C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4687" y="2035478"/>
            <a:ext cx="10729841" cy="3839229"/>
          </a:xfrm>
        </p:spPr>
        <p:txBody>
          <a:bodyPr>
            <a:normAutofit lnSpcReduction="10000"/>
          </a:bodyPr>
          <a:lstStyle/>
          <a:p>
            <a:pPr algn="just"/>
            <a:r>
              <a:rPr lang="ru-RU" sz="2400" dirty="0"/>
              <a:t>Мы выбираем </a:t>
            </a:r>
            <a:r>
              <a:rPr lang="ru-RU" sz="2400" b="1" dirty="0"/>
              <a:t>монолитную архитектуру </a:t>
            </a:r>
            <a:r>
              <a:rPr lang="ru-RU" sz="2400" dirty="0"/>
              <a:t>для упрощения разработки, быстрого старта и экономии ресурсов. Внутри монолита функциональность разделена на модули, что облегчает масштабирование и подготовку к будущему переходу на микросервисы.</a:t>
            </a:r>
          </a:p>
          <a:p>
            <a:pPr algn="just"/>
            <a:endParaRPr lang="ru-RU" sz="2400" dirty="0"/>
          </a:p>
          <a:p>
            <a:pPr algn="just"/>
            <a:r>
              <a:rPr lang="ru-RU" sz="2400" dirty="0"/>
              <a:t>После MUP переход на микросервисы позволит масштабировать отдельные части системы независимо, снижая риск узких мест и просто обновлять функциональность без остановки всего приложения. Это также даст гибкость в технологиях и упростит работу команд при росте нагрузки и числа пользователей.</a:t>
            </a:r>
          </a:p>
        </p:txBody>
      </p:sp>
    </p:spTree>
    <p:extLst>
      <p:ext uri="{BB962C8B-B14F-4D97-AF65-F5344CB8AC3E}">
        <p14:creationId xmlns:p14="http://schemas.microsoft.com/office/powerpoint/2010/main" val="1199132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7C541-AC84-D929-01B4-5DE29E332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BD802466-4B4A-68B5-4F37-BD033DFAD9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Информатика и вычислительная техника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D99F509B-CB44-2338-A37A-5DB592434D4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372296" cy="408109"/>
          </a:xfrm>
        </p:spPr>
        <p:txBody>
          <a:bodyPr/>
          <a:lstStyle/>
          <a:p>
            <a:r>
              <a:rPr lang="ru-RU" dirty="0"/>
              <a:t>Проектирование веб-приложений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A38D37C0-685F-28FB-F74D-20007E465C4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«</a:t>
            </a:r>
            <a:r>
              <a:rPr lang="en-US" dirty="0"/>
              <a:t>Echo</a:t>
            </a:r>
            <a:r>
              <a:rPr lang="ru-RU" dirty="0"/>
              <a:t>» - </a:t>
            </a:r>
            <a:r>
              <a:rPr lang="en-US" dirty="0"/>
              <a:t>technology is best when it brings people together.</a:t>
            </a:r>
            <a:endParaRPr lang="ru-R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C617FE-03A1-4787-9139-2946742ADFBF}"/>
              </a:ext>
            </a:extLst>
          </p:cNvPr>
          <p:cNvSpPr txBox="1"/>
          <p:nvPr/>
        </p:nvSpPr>
        <p:spPr>
          <a:xfrm>
            <a:off x="515917" y="1329195"/>
            <a:ext cx="46698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latin typeface="HSE Sans" panose="02000000000000000000" pitchFamily="2" charset="0"/>
                <a:ea typeface="+mj-ea"/>
                <a:cs typeface="+mj-cs"/>
              </a:rPr>
              <a:t>План развития архитектуры</a:t>
            </a:r>
          </a:p>
        </p:txBody>
      </p:sp>
      <p:sp>
        <p:nvSpPr>
          <p:cNvPr id="2" name="Текст 3">
            <a:extLst>
              <a:ext uri="{FF2B5EF4-FFF2-40B4-BE49-F238E27FC236}">
                <a16:creationId xmlns:a16="http://schemas.microsoft.com/office/drawing/2014/main" id="{2B2B3BF3-0FAC-70DA-4C7D-4E51CE575CF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4687" y="2035478"/>
            <a:ext cx="10729841" cy="4490582"/>
          </a:xfrm>
        </p:spPr>
        <p:txBody>
          <a:bodyPr>
            <a:normAutofit fontScale="77500" lnSpcReduction="20000"/>
          </a:bodyPr>
          <a:lstStyle/>
          <a:p>
            <a:r>
              <a:rPr lang="ru-RU" sz="2600" b="1" dirty="0"/>
              <a:t>Этап 1 (Monolith First):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600" dirty="0"/>
              <a:t>Создать хорошо структурированный монолит с отдельными модулями. Это позволит быстро выйти на рынок и проверить гипотезы.</a:t>
            </a:r>
          </a:p>
          <a:p>
            <a:r>
              <a:rPr lang="ru-RU" sz="2600" b="1" dirty="0"/>
              <a:t>Этап 2 (Вынос взаимодействия с внешним миром):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600" dirty="0"/>
              <a:t>Вынести всю логику работы с Telegram Bot API, а также уведомления. Это изолирует основную логику от нестабильных внешних сервисов.</a:t>
            </a:r>
          </a:p>
          <a:p>
            <a:r>
              <a:rPr lang="ru-RU" sz="2600" b="1" dirty="0"/>
              <a:t>Этап 3 (Вынос ядра бизнес-логики):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600" dirty="0"/>
              <a:t>Сервис Пользователей и Групп (user-group-service). Управление профилями, аутентификацией, группами и членством.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600" dirty="0"/>
              <a:t>Сервис Мероприятий и Финансов (event-finance-service). Ядро приложения: создание мероприятий, траты, расчет долгов, задачи.</a:t>
            </a:r>
          </a:p>
          <a:p>
            <a:r>
              <a:rPr lang="ru-RU" sz="2600" b="1" dirty="0"/>
              <a:t>Этап 4 (Вынос запросов и отчетности):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600" dirty="0"/>
              <a:t>Сервис Отчетов и Поиска (reporting-service). Отвечает за агрегации: "общие долги пользователя", "история трат мероприятия".</a:t>
            </a:r>
          </a:p>
        </p:txBody>
      </p:sp>
    </p:spTree>
    <p:extLst>
      <p:ext uri="{BB962C8B-B14F-4D97-AF65-F5344CB8AC3E}">
        <p14:creationId xmlns:p14="http://schemas.microsoft.com/office/powerpoint/2010/main" val="644099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BE3B9-4D3C-33E4-71DA-651A1DB5E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84D9C9E7-A26E-9CC8-DFBD-684398A0E4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Информатика и вычислительная техника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F6A9D32E-6527-ADB5-DC0E-A4B021B3FB3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372296" cy="408109"/>
          </a:xfrm>
        </p:spPr>
        <p:txBody>
          <a:bodyPr/>
          <a:lstStyle/>
          <a:p>
            <a:r>
              <a:rPr lang="ru-RU" dirty="0"/>
              <a:t>Проектирование веб-приложений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BB038303-3E18-9DB4-A46D-29E1CDE4218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«</a:t>
            </a:r>
            <a:r>
              <a:rPr lang="en-US" dirty="0"/>
              <a:t>Echo</a:t>
            </a:r>
            <a:r>
              <a:rPr lang="ru-RU" dirty="0"/>
              <a:t>» - </a:t>
            </a:r>
            <a:r>
              <a:rPr lang="en-US" dirty="0"/>
              <a:t>technology is best when it brings people together.</a:t>
            </a:r>
            <a:endParaRPr lang="ru-R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95FDBB-F929-8D52-60AF-18F91E418FEE}"/>
              </a:ext>
            </a:extLst>
          </p:cNvPr>
          <p:cNvSpPr txBox="1"/>
          <p:nvPr/>
        </p:nvSpPr>
        <p:spPr>
          <a:xfrm>
            <a:off x="139874" y="1012832"/>
            <a:ext cx="119122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HSE Sans" panose="02000000000000000000" pitchFamily="2" charset="0"/>
                <a:ea typeface="+mj-ea"/>
                <a:cs typeface="+mj-cs"/>
              </a:rPr>
              <a:t>CAP</a:t>
            </a:r>
            <a:r>
              <a:rPr lang="ru-RU" sz="1600" b="1" dirty="0">
                <a:latin typeface="HSE Sans" panose="02000000000000000000" pitchFamily="2" charset="0"/>
                <a:ea typeface="+mj-ea"/>
                <a:cs typeface="+mj-cs"/>
              </a:rPr>
              <a:t>-компромисс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7298EDC5-2D91-D1EF-CEAF-F06F4BFAE3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923" y="1407389"/>
            <a:ext cx="10796154" cy="5275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8523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B45FF-A72E-7E5A-DD5A-5157B358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FAAAB521-F24F-FEE5-A776-29BDCE31DE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Информатика и вычислительная техника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8EE8C245-7929-332A-77F1-C2A6DD5C93C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372296" cy="408109"/>
          </a:xfrm>
        </p:spPr>
        <p:txBody>
          <a:bodyPr/>
          <a:lstStyle/>
          <a:p>
            <a:r>
              <a:rPr lang="ru-RU" dirty="0"/>
              <a:t>Проектирование веб-приложений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A62E04D5-2235-50C0-881A-8D7585F568D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«</a:t>
            </a:r>
            <a:r>
              <a:rPr lang="en-US" dirty="0"/>
              <a:t>Echo</a:t>
            </a:r>
            <a:r>
              <a:rPr lang="ru-RU" dirty="0"/>
              <a:t>» - </a:t>
            </a:r>
            <a:r>
              <a:rPr lang="en-US" dirty="0"/>
              <a:t>technology is best when it brings people together.</a:t>
            </a:r>
            <a:endParaRPr lang="ru-R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05BCED-909D-DE1E-B222-6869B468A39F}"/>
              </a:ext>
            </a:extLst>
          </p:cNvPr>
          <p:cNvSpPr txBox="1"/>
          <p:nvPr/>
        </p:nvSpPr>
        <p:spPr>
          <a:xfrm>
            <a:off x="515917" y="1329195"/>
            <a:ext cx="66736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latin typeface="HSE Sans" panose="02000000000000000000" pitchFamily="2" charset="0"/>
                <a:ea typeface="+mj-ea"/>
                <a:cs typeface="+mj-cs"/>
              </a:rPr>
              <a:t>Базовый план деградации под нагрузкой</a:t>
            </a:r>
          </a:p>
        </p:txBody>
      </p:sp>
      <p:sp>
        <p:nvSpPr>
          <p:cNvPr id="2" name="Текст 3">
            <a:extLst>
              <a:ext uri="{FF2B5EF4-FFF2-40B4-BE49-F238E27FC236}">
                <a16:creationId xmlns:a16="http://schemas.microsoft.com/office/drawing/2014/main" id="{B00ABC7B-05A1-23B8-09EA-7FB4BCBCA82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4687" y="2035478"/>
            <a:ext cx="10729841" cy="3839229"/>
          </a:xfrm>
        </p:spPr>
        <p:txBody>
          <a:bodyPr>
            <a:normAutofit/>
          </a:bodyPr>
          <a:lstStyle/>
          <a:p>
            <a:r>
              <a:rPr lang="ru-RU" sz="2000" b="1" dirty="0"/>
              <a:t>Триггеры: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000" dirty="0"/>
              <a:t>Очередь обработки медиафайлов в Telegram-боте превышает лимит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000" dirty="0"/>
              <a:t>Высокая нагрузка на сервер при создании/обновлении событий, задач или расходов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CPU / RAM &gt; 80–90%</a:t>
            </a:r>
            <a:endParaRPr lang="ru-RU" sz="2000" dirty="0"/>
          </a:p>
          <a:p>
            <a:r>
              <a:rPr lang="ru-RU" sz="2000" b="1" dirty="0"/>
              <a:t>Что выключаем / ограничиваем: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Асинхронную обработку медиафайлов в Telegram-боте (новые фото/видео обрабатываются с задержкой)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Отправку уведомлений о новых задачах или расходах через бота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Некритичные визуальные элементы в приложении (мини‑превью медиа, анимации)</a:t>
            </a:r>
          </a:p>
        </p:txBody>
      </p:sp>
    </p:spTree>
    <p:extLst>
      <p:ext uri="{BB962C8B-B14F-4D97-AF65-F5344CB8AC3E}">
        <p14:creationId xmlns:p14="http://schemas.microsoft.com/office/powerpoint/2010/main" val="36499362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AA043-599C-8811-AF63-555C69130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21BA08B7-6019-928F-1A28-146B7A27367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Информатика и вычислительная техника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21C3C746-4C2E-91C9-9EC0-CBD6FA1A8C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372296" cy="408109"/>
          </a:xfrm>
        </p:spPr>
        <p:txBody>
          <a:bodyPr/>
          <a:lstStyle/>
          <a:p>
            <a:r>
              <a:rPr lang="ru-RU" dirty="0"/>
              <a:t>Проектирование веб-приложений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3FFC07FB-6E9C-D821-D5D9-E851563C4DC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«</a:t>
            </a:r>
            <a:r>
              <a:rPr lang="en-US" dirty="0"/>
              <a:t>Echo</a:t>
            </a:r>
            <a:r>
              <a:rPr lang="ru-RU" dirty="0"/>
              <a:t>» - </a:t>
            </a:r>
            <a:r>
              <a:rPr lang="en-US" dirty="0"/>
              <a:t>technology is best when it brings people together.</a:t>
            </a:r>
            <a:endParaRPr lang="ru-R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882D7F-14DF-A734-CB24-54464E76E932}"/>
              </a:ext>
            </a:extLst>
          </p:cNvPr>
          <p:cNvSpPr txBox="1"/>
          <p:nvPr/>
        </p:nvSpPr>
        <p:spPr>
          <a:xfrm>
            <a:off x="515917" y="1329195"/>
            <a:ext cx="66736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latin typeface="HSE Sans" panose="02000000000000000000" pitchFamily="2" charset="0"/>
                <a:ea typeface="+mj-ea"/>
                <a:cs typeface="+mj-cs"/>
              </a:rPr>
              <a:t>Базовый план деградации под нагрузкой</a:t>
            </a:r>
          </a:p>
        </p:txBody>
      </p:sp>
      <p:sp>
        <p:nvSpPr>
          <p:cNvPr id="2" name="Текст 3">
            <a:extLst>
              <a:ext uri="{FF2B5EF4-FFF2-40B4-BE49-F238E27FC236}">
                <a16:creationId xmlns:a16="http://schemas.microsoft.com/office/drawing/2014/main" id="{9A528176-6765-7703-65E4-C1A77CF2158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4687" y="2035478"/>
            <a:ext cx="10729841" cy="3839229"/>
          </a:xfrm>
        </p:spPr>
        <p:txBody>
          <a:bodyPr>
            <a:normAutofit/>
          </a:bodyPr>
          <a:lstStyle/>
          <a:p>
            <a:r>
              <a:rPr lang="ru-RU" sz="2000" b="1" dirty="0"/>
              <a:t>Кто отвечает: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Backend (FastAPI) — управляет очередями, throttling и отложенной обработкой медиа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Telegram-бот — временно снижает активность уведомлений и медиа-потока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DevOps / мониторинг — отслеживает метрики нагрузки и сигнализирует о триггерах</a:t>
            </a:r>
            <a:endParaRPr lang="ru-RU" sz="2000" b="1" dirty="0"/>
          </a:p>
          <a:p>
            <a:r>
              <a:rPr lang="ru-RU" sz="2000" b="1" dirty="0"/>
              <a:t>Восстановление функциональности: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Очереди медиафайлов разгружаются автоматически по мере снижения нагрузки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Уведомления и обработка медиа возобновляются по мере доступности ресурсов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В приложении восстанавливаются некритичные визуальные элементы</a:t>
            </a:r>
          </a:p>
        </p:txBody>
      </p:sp>
    </p:spTree>
    <p:extLst>
      <p:ext uri="{BB962C8B-B14F-4D97-AF65-F5344CB8AC3E}">
        <p14:creationId xmlns:p14="http://schemas.microsoft.com/office/powerpoint/2010/main" val="38679656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D65D6-9119-7841-E919-83A51892E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B273BC10-05A7-3584-09F0-D7D9DB2A74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Информатика и вычислительная техника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503AEBA-EEFE-CFE4-2521-9B0B65677C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372296" cy="408109"/>
          </a:xfrm>
        </p:spPr>
        <p:txBody>
          <a:bodyPr/>
          <a:lstStyle/>
          <a:p>
            <a:r>
              <a:rPr lang="ru-RU" dirty="0"/>
              <a:t>Проектирование веб-приложений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E71D11AE-4D37-9A68-437D-199D505BB65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«</a:t>
            </a:r>
            <a:r>
              <a:rPr lang="en-US" dirty="0"/>
              <a:t>Echo</a:t>
            </a:r>
            <a:r>
              <a:rPr lang="ru-RU" dirty="0"/>
              <a:t>» - </a:t>
            </a:r>
            <a:r>
              <a:rPr lang="en-US" dirty="0"/>
              <a:t>technology is best when it brings people together.</a:t>
            </a:r>
            <a:endParaRPr lang="ru-R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B2152E3-391B-52AA-5702-4322165D87BE}"/>
              </a:ext>
            </a:extLst>
          </p:cNvPr>
          <p:cNvSpPr txBox="1"/>
          <p:nvPr/>
        </p:nvSpPr>
        <p:spPr>
          <a:xfrm>
            <a:off x="515917" y="1329195"/>
            <a:ext cx="47532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latin typeface="HSE Sans" panose="02000000000000000000" pitchFamily="2" charset="0"/>
                <a:ea typeface="+mj-ea"/>
                <a:cs typeface="+mj-cs"/>
              </a:rPr>
              <a:t>Критический путь в системе</a:t>
            </a:r>
          </a:p>
        </p:txBody>
      </p:sp>
      <p:sp>
        <p:nvSpPr>
          <p:cNvPr id="2" name="Текст 3">
            <a:extLst>
              <a:ext uri="{FF2B5EF4-FFF2-40B4-BE49-F238E27FC236}">
                <a16:creationId xmlns:a16="http://schemas.microsoft.com/office/drawing/2014/main" id="{8C93FCB2-F92E-FD9C-0FAC-2D77A78CF2A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4687" y="2035478"/>
            <a:ext cx="10729841" cy="3839229"/>
          </a:xfrm>
        </p:spPr>
        <p:txBody>
          <a:bodyPr>
            <a:normAutofit/>
          </a:bodyPr>
          <a:lstStyle/>
          <a:p>
            <a:r>
              <a:rPr lang="ru-RU" sz="2600" dirty="0"/>
              <a:t>Создание пользователя -&gt;</a:t>
            </a:r>
          </a:p>
          <a:p>
            <a:r>
              <a:rPr lang="ru-RU" sz="2600" dirty="0"/>
              <a:t>Вход в систему -&gt;</a:t>
            </a:r>
          </a:p>
          <a:p>
            <a:r>
              <a:rPr lang="ru-RU" sz="2600" dirty="0"/>
              <a:t>Создание/вступление в группу -&gt;</a:t>
            </a:r>
          </a:p>
          <a:p>
            <a:r>
              <a:rPr lang="ru-RU" sz="2600" dirty="0"/>
              <a:t>Создание мероприятия -&gt;</a:t>
            </a:r>
          </a:p>
          <a:p>
            <a:r>
              <a:rPr lang="ru-RU" sz="2600" dirty="0"/>
              <a:t>Добавление траты -&gt;</a:t>
            </a:r>
          </a:p>
          <a:p>
            <a:r>
              <a:rPr lang="ru-RU" sz="2600" dirty="0"/>
              <a:t>Корректный расчет и отображение долгов.</a:t>
            </a:r>
          </a:p>
        </p:txBody>
      </p:sp>
    </p:spTree>
    <p:extLst>
      <p:ext uri="{BB962C8B-B14F-4D97-AF65-F5344CB8AC3E}">
        <p14:creationId xmlns:p14="http://schemas.microsoft.com/office/powerpoint/2010/main" val="23244717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D9569-A56C-E855-387B-EAE54ADB3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96122C99-D64D-01E3-1C51-BF084AEC4A7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Информатика и вычислительная техника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C3217EAA-0B63-2D5F-243F-867B03CBB80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372296" cy="408109"/>
          </a:xfrm>
        </p:spPr>
        <p:txBody>
          <a:bodyPr/>
          <a:lstStyle/>
          <a:p>
            <a:r>
              <a:rPr lang="ru-RU" dirty="0"/>
              <a:t>Проектирование веб-приложений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A98DDF70-CB15-D1EA-55CC-302CF136DEA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«</a:t>
            </a:r>
            <a:r>
              <a:rPr lang="en-US" dirty="0"/>
              <a:t>Echo</a:t>
            </a:r>
            <a:r>
              <a:rPr lang="ru-RU" dirty="0"/>
              <a:t>» - </a:t>
            </a:r>
            <a:r>
              <a:rPr lang="en-US" dirty="0"/>
              <a:t>technology is best when it brings people together.</a:t>
            </a:r>
            <a:endParaRPr lang="ru-R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F599C5-DC0B-E3B9-C32F-147F26A4F1FD}"/>
              </a:ext>
            </a:extLst>
          </p:cNvPr>
          <p:cNvSpPr txBox="1"/>
          <p:nvPr/>
        </p:nvSpPr>
        <p:spPr>
          <a:xfrm>
            <a:off x="515917" y="1329195"/>
            <a:ext cx="44037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latin typeface="HSE Sans" panose="02000000000000000000" pitchFamily="2" charset="0"/>
                <a:ea typeface="+mj-ea"/>
                <a:cs typeface="+mj-cs"/>
              </a:rPr>
              <a:t>Матрица трассируемости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0A40ACC-3904-4506-EB2C-C23283F53C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393" y="1954060"/>
            <a:ext cx="11871213" cy="4679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6955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CDC76-2269-6A44-84E7-A165BF9FB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695B1A84-FD0C-A161-D11B-57E8A92D687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Информатика и вычислительная техника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8954D4C4-6AEB-7A9F-6028-8B23EA4AB93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372296" cy="408109"/>
          </a:xfrm>
        </p:spPr>
        <p:txBody>
          <a:bodyPr/>
          <a:lstStyle/>
          <a:p>
            <a:r>
              <a:rPr lang="ru-RU" dirty="0"/>
              <a:t>Проектирование веб-приложений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554C213C-1DD9-FFDE-77D0-BA861F55A9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«</a:t>
            </a:r>
            <a:r>
              <a:rPr lang="en-US" dirty="0"/>
              <a:t>Echo</a:t>
            </a:r>
            <a:r>
              <a:rPr lang="ru-RU" dirty="0"/>
              <a:t>» - </a:t>
            </a:r>
            <a:r>
              <a:rPr lang="en-US" dirty="0"/>
              <a:t>technology is best when it brings people together.</a:t>
            </a:r>
            <a:endParaRPr lang="ru-R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4C12658-E98F-AA11-A76F-F2F6AE4191C7}"/>
              </a:ext>
            </a:extLst>
          </p:cNvPr>
          <p:cNvSpPr txBox="1"/>
          <p:nvPr/>
        </p:nvSpPr>
        <p:spPr>
          <a:xfrm>
            <a:off x="515917" y="1329195"/>
            <a:ext cx="38716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HSE Sans" panose="02000000000000000000" pitchFamily="2" charset="0"/>
                <a:ea typeface="+mj-ea"/>
                <a:cs typeface="+mj-cs"/>
              </a:rPr>
              <a:t>C4 </a:t>
            </a:r>
            <a:r>
              <a:rPr lang="ru-RU" sz="2800" b="1" dirty="0">
                <a:latin typeface="HSE Sans" panose="02000000000000000000" pitchFamily="2" charset="0"/>
                <a:ea typeface="+mj-ea"/>
                <a:cs typeface="+mj-cs"/>
              </a:rPr>
              <a:t>диаграмма – </a:t>
            </a:r>
            <a:r>
              <a:rPr lang="en-US" sz="2800" b="1" dirty="0">
                <a:latin typeface="HSE Sans" panose="02000000000000000000" pitchFamily="2" charset="0"/>
                <a:ea typeface="+mj-ea"/>
                <a:cs typeface="+mj-cs"/>
              </a:rPr>
              <a:t>level 1</a:t>
            </a:r>
            <a:endParaRPr lang="ru-RU" sz="2800" b="1" dirty="0">
              <a:latin typeface="HSE Sans" panose="02000000000000000000" pitchFamily="2" charset="0"/>
              <a:ea typeface="+mj-ea"/>
              <a:cs typeface="+mj-cs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5E61573-F485-2B0A-527C-93130702BD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7554" y="1069721"/>
            <a:ext cx="4725131" cy="5612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8390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57D5A-A104-E36B-0AEF-1E588F745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9E7B3C46-9EA0-E009-4493-7E1BAA8146A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Информатика и вычислительная техника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97857C17-3C59-33A4-14A6-62487FCAF68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372296" cy="408109"/>
          </a:xfrm>
        </p:spPr>
        <p:txBody>
          <a:bodyPr/>
          <a:lstStyle/>
          <a:p>
            <a:r>
              <a:rPr lang="ru-RU" dirty="0"/>
              <a:t>Проектирование веб-приложений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FACFB16B-C95F-9DF1-5F37-B03A9D91B8A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«</a:t>
            </a:r>
            <a:r>
              <a:rPr lang="en-US" dirty="0"/>
              <a:t>Echo</a:t>
            </a:r>
            <a:r>
              <a:rPr lang="ru-RU" dirty="0"/>
              <a:t>» - </a:t>
            </a:r>
            <a:r>
              <a:rPr lang="en-US" dirty="0"/>
              <a:t>technology is best when it brings people together.</a:t>
            </a:r>
            <a:endParaRPr lang="ru-R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ADB610-0F81-7500-4E50-7EE90702FCED}"/>
              </a:ext>
            </a:extLst>
          </p:cNvPr>
          <p:cNvSpPr txBox="1"/>
          <p:nvPr/>
        </p:nvSpPr>
        <p:spPr>
          <a:xfrm>
            <a:off x="515917" y="1329195"/>
            <a:ext cx="38812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HSE Sans" panose="02000000000000000000" pitchFamily="2" charset="0"/>
                <a:ea typeface="+mj-ea"/>
                <a:cs typeface="+mj-cs"/>
              </a:rPr>
              <a:t>C4 </a:t>
            </a:r>
            <a:r>
              <a:rPr lang="ru-RU" sz="2800" b="1" dirty="0">
                <a:latin typeface="HSE Sans" panose="02000000000000000000" pitchFamily="2" charset="0"/>
                <a:ea typeface="+mj-ea"/>
                <a:cs typeface="+mj-cs"/>
              </a:rPr>
              <a:t>диаграмма </a:t>
            </a:r>
            <a:r>
              <a:rPr lang="en-US" sz="2800" b="1" dirty="0">
                <a:latin typeface="HSE Sans" panose="02000000000000000000" pitchFamily="2" charset="0"/>
                <a:ea typeface="+mj-ea"/>
                <a:cs typeface="+mj-cs"/>
              </a:rPr>
              <a:t>– level 2</a:t>
            </a:r>
            <a:endParaRPr lang="ru-RU" sz="2800" b="1" dirty="0">
              <a:latin typeface="HSE Sans" panose="02000000000000000000" pitchFamily="2" charset="0"/>
              <a:ea typeface="+mj-ea"/>
              <a:cs typeface="+mj-cs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BD79D4A-9588-57C4-0522-8001EEA12A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7172" y="1089358"/>
            <a:ext cx="6339749" cy="5629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3833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1445F-14D3-9D76-C0DB-0D658FED1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280BCBEC-745F-CB63-4C8E-21F79447C87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Информатика и вычислительная техника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D2514C08-70EF-9BCF-F127-B88B269D93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372296" cy="408109"/>
          </a:xfrm>
        </p:spPr>
        <p:txBody>
          <a:bodyPr/>
          <a:lstStyle/>
          <a:p>
            <a:r>
              <a:rPr lang="ru-RU" dirty="0"/>
              <a:t>Проектирование веб-приложений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4B0A580C-B08A-2315-9DCE-D26DC963DEA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«</a:t>
            </a:r>
            <a:r>
              <a:rPr lang="en-US" dirty="0"/>
              <a:t>Echo</a:t>
            </a:r>
            <a:r>
              <a:rPr lang="ru-RU" dirty="0"/>
              <a:t>» - </a:t>
            </a:r>
            <a:r>
              <a:rPr lang="en-US" dirty="0"/>
              <a:t>technology is best when it brings people together.</a:t>
            </a:r>
            <a:endParaRPr lang="ru-R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C9F93A-9B33-12E1-1BBA-880046F3439D}"/>
              </a:ext>
            </a:extLst>
          </p:cNvPr>
          <p:cNvSpPr txBox="1"/>
          <p:nvPr/>
        </p:nvSpPr>
        <p:spPr>
          <a:xfrm>
            <a:off x="515917" y="1329195"/>
            <a:ext cx="26436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HSE Sans" panose="02000000000000000000" pitchFamily="2" charset="0"/>
                <a:ea typeface="+mj-ea"/>
                <a:cs typeface="+mj-cs"/>
              </a:rPr>
              <a:t>ERD </a:t>
            </a:r>
            <a:r>
              <a:rPr lang="ru-RU" sz="2800" b="1" dirty="0">
                <a:latin typeface="HSE Sans" panose="02000000000000000000" pitchFamily="2" charset="0"/>
                <a:ea typeface="+mj-ea"/>
                <a:cs typeface="+mj-cs"/>
              </a:rPr>
              <a:t>диаграмма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F7619B5-3B1A-43C0-6014-808EC764E8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9589" y="1118432"/>
            <a:ext cx="7274592" cy="5532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8062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6C2AF-CE75-6871-F412-9A72D8BD3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9D74BCFD-1120-9A5C-5A24-48C6A415726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Информатика и вычислительная техника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76A3E1F4-9F50-ED49-E61B-D5F91AAFBB2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372296" cy="408109"/>
          </a:xfrm>
        </p:spPr>
        <p:txBody>
          <a:bodyPr/>
          <a:lstStyle/>
          <a:p>
            <a:r>
              <a:rPr lang="ru-RU" dirty="0"/>
              <a:t>Проектирование веб-приложений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12562A0C-D728-F74D-88AB-500AA97E498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«</a:t>
            </a:r>
            <a:r>
              <a:rPr lang="en-US" dirty="0"/>
              <a:t>Echo</a:t>
            </a:r>
            <a:r>
              <a:rPr lang="ru-RU" dirty="0"/>
              <a:t>» - </a:t>
            </a:r>
            <a:r>
              <a:rPr lang="en-US" dirty="0"/>
              <a:t>technology is best when it brings people together.</a:t>
            </a:r>
            <a:endParaRPr lang="ru-R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4C7AA1-D06E-2559-F6C1-5D4B207D113F}"/>
              </a:ext>
            </a:extLst>
          </p:cNvPr>
          <p:cNvSpPr txBox="1"/>
          <p:nvPr/>
        </p:nvSpPr>
        <p:spPr>
          <a:xfrm>
            <a:off x="515917" y="1329195"/>
            <a:ext cx="33586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latin typeface="HSE Sans" panose="02000000000000000000" pitchFamily="2" charset="0"/>
                <a:ea typeface="+mj-ea"/>
                <a:cs typeface="+mj-cs"/>
              </a:rPr>
              <a:t>Схема базы данных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FD67495-60F5-EF2D-56DF-C7D03299EC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4529" y="1078572"/>
            <a:ext cx="7956304" cy="5616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98103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459</TotalTime>
  <Words>1079</Words>
  <Application>Microsoft Office PowerPoint</Application>
  <PresentationFormat>Широкоэкранный</PresentationFormat>
  <Paragraphs>133</Paragraphs>
  <Slides>19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HSE Sans</vt:lpstr>
      <vt:lpstr>Тема Office</vt:lpstr>
      <vt:lpstr>Веб-приложение: «Echo» - платформа для коллективного планирования мероприятий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Дмитрий Половников</dc:creator>
  <cp:lastModifiedBy>Дмитрий Половников</cp:lastModifiedBy>
  <cp:revision>199</cp:revision>
  <dcterms:created xsi:type="dcterms:W3CDTF">2025-09-19T19:09:55Z</dcterms:created>
  <dcterms:modified xsi:type="dcterms:W3CDTF">2025-10-16T20:23:10Z</dcterms:modified>
</cp:coreProperties>
</file>